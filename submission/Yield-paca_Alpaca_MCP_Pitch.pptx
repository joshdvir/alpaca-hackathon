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609de36d4447f" /><Relationship Type="http://schemas.openxmlformats.org/officeDocument/2006/relationships/extended-properties" Target="/docProps/app.xml" Id="R3999d2f095e94b84" /><Relationship Type="http://schemas.openxmlformats.org/officeDocument/2006/relationships/officeDocument" Target="/ppt/presentation.xml" Id="R3e1848a5569647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2ac4c3e054506"/>
  </p:sldMasterIdLst>
  <p:notesMasterIdLst>
    <p:notesMasterId xmlns:r="http://schemas.openxmlformats.org/officeDocument/2006/relationships" r:id="Re06efadda6684d37"/>
  </p:notesMasterIdLst>
  <p:sldIdLst>
    <p:sldId xmlns:r="http://schemas.openxmlformats.org/officeDocument/2006/relationships" id="256" r:id="R8c0599f7e8ae43f5"/>
    <p:sldId xmlns:r="http://schemas.openxmlformats.org/officeDocument/2006/relationships" id="257" r:id="R48601f5127e64d2d"/>
    <p:sldId xmlns:r="http://schemas.openxmlformats.org/officeDocument/2006/relationships" id="258" r:id="Rf24d441912ed4186"/>
    <p:sldId xmlns:r="http://schemas.openxmlformats.org/officeDocument/2006/relationships" id="259" r:id="Rbac5f56233184f13"/>
    <p:sldId xmlns:r="http://schemas.openxmlformats.org/officeDocument/2006/relationships" id="260" r:id="R5a83d3e226b943e2"/>
    <p:sldId xmlns:r="http://schemas.openxmlformats.org/officeDocument/2006/relationships" id="261" r:id="Rc5de554dc7e74ba2"/>
    <p:sldId xmlns:r="http://schemas.openxmlformats.org/officeDocument/2006/relationships" id="262" r:id="R9b112a9eac9343cc"/>
    <p:sldId xmlns:r="http://schemas.openxmlformats.org/officeDocument/2006/relationships" id="263" r:id="Rd5e52537af8e4c3d"/>
    <p:sldId xmlns:r="http://schemas.openxmlformats.org/officeDocument/2006/relationships" id="264" r:id="R2370bba3c0e743a9"/>
    <p:sldId xmlns:r="http://schemas.openxmlformats.org/officeDocument/2006/relationships" id="265" r:id="Rff4546fa214540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25ca9871c14984" /><Relationship Type="http://schemas.openxmlformats.org/officeDocument/2006/relationships/slideMaster" Target="/ppt/slideMasters/slideMaster1.xml" Id="Rc8f2ac4c3e054506" /><Relationship Type="http://schemas.openxmlformats.org/officeDocument/2006/relationships/notesMaster" Target="/ppt/notesMasters/notesMaster1.xml" Id="Re06efadda6684d37" /><Relationship Type="http://schemas.openxmlformats.org/officeDocument/2006/relationships/presProps" Target="/ppt/presProps.xml" Id="Ra292cfb2b75b4f5a" /><Relationship Type="http://schemas.openxmlformats.org/officeDocument/2006/relationships/tableStyles" Target="/ppt/tableStyles.xml" Id="R8d8296ea1c15475c" /><Relationship Type="http://schemas.openxmlformats.org/officeDocument/2006/relationships/slide" Target="/ppt/slides/slide1.xml" Id="R8c0599f7e8ae43f5" /><Relationship Type="http://schemas.openxmlformats.org/officeDocument/2006/relationships/slide" Target="/ppt/slides/slide2.xml" Id="R48601f5127e64d2d" /><Relationship Type="http://schemas.openxmlformats.org/officeDocument/2006/relationships/slide" Target="/ppt/slides/slide3.xml" Id="Rf24d441912ed4186" /><Relationship Type="http://schemas.openxmlformats.org/officeDocument/2006/relationships/slide" Target="/ppt/slides/slide4.xml" Id="Rbac5f56233184f13" /><Relationship Type="http://schemas.openxmlformats.org/officeDocument/2006/relationships/slide" Target="/ppt/slides/slide5.xml" Id="R5a83d3e226b943e2" /><Relationship Type="http://schemas.openxmlformats.org/officeDocument/2006/relationships/slide" Target="/ppt/slides/slide6.xml" Id="Rc5de554dc7e74ba2" /><Relationship Type="http://schemas.openxmlformats.org/officeDocument/2006/relationships/slide" Target="/ppt/slides/slide7.xml" Id="R9b112a9eac9343cc" /><Relationship Type="http://schemas.openxmlformats.org/officeDocument/2006/relationships/slide" Target="/ppt/slides/slide8.xml" Id="Rd5e52537af8e4c3d" /><Relationship Type="http://schemas.openxmlformats.org/officeDocument/2006/relationships/slide" Target="/ppt/slides/slide9.xml" Id="R2370bba3c0e743a9" /><Relationship Type="http://schemas.openxmlformats.org/officeDocument/2006/relationships/slide" Target="/ppt/slides/slide10.xml" Id="Rff4546fa214540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4996e9c3e34c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5ddd6f62d4217" /><Relationship Type="http://schemas.openxmlformats.org/officeDocument/2006/relationships/notesMaster" Target="/ppt/notesMasters/notesMaster1.xml" Id="R5477738636344b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4f01aa14d41ba" /><Relationship Type="http://schemas.openxmlformats.org/officeDocument/2006/relationships/notesMaster" Target="/ppt/notesMasters/notesMaster1.xml" Id="R1e9696b10c07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a640780be471f" /><Relationship Type="http://schemas.openxmlformats.org/officeDocument/2006/relationships/notesMaster" Target="/ppt/notesMasters/notesMaster1.xml" Id="R0724ae62f47743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9548b1e2264304" /><Relationship Type="http://schemas.openxmlformats.org/officeDocument/2006/relationships/notesMaster" Target="/ppt/notesMasters/notesMaster1.xml" Id="R2c4b4ce4f6bf46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b7e0c68261426b" /><Relationship Type="http://schemas.openxmlformats.org/officeDocument/2006/relationships/notesMaster" Target="/ppt/notesMasters/notesMaster1.xml" Id="R504b89e6a0e84c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4b8052df304612" /><Relationship Type="http://schemas.openxmlformats.org/officeDocument/2006/relationships/notesMaster" Target="/ppt/notesMasters/notesMaster1.xml" Id="R0a963ea09dcf40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66903376af47ac" /><Relationship Type="http://schemas.openxmlformats.org/officeDocument/2006/relationships/notesMaster" Target="/ppt/notesMasters/notesMaster1.xml" Id="Rd890f3c59f8e4c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eaeb7c7c6446da" /><Relationship Type="http://schemas.openxmlformats.org/officeDocument/2006/relationships/notesMaster" Target="/ppt/notesMasters/notesMaster1.xml" Id="R7d944eea60634a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7134e8ea024be4" /><Relationship Type="http://schemas.openxmlformats.org/officeDocument/2006/relationships/notesMaster" Target="/ppt/notesMasters/notesMaster1.xml" Id="R5e3f1533f27b4d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2c742fe41b41c6" /><Relationship Type="http://schemas.openxmlformats.org/officeDocument/2006/relationships/notesMaster" Target="/ppt/notesMasters/notesMaster1.xml" Id="R9db7a97a8ae7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Hi, I'm building Yield-paca—an AI trading system where research, debate, and execution agents collaborate through MCP. It runs against an Alpaca paper account.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trading automation either acts from a single signal or gives an LLM too much authority. The result is hard to inspect, hard to replay, and unsafe on a broker account.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specialists create independent briefs in parallel. Bull and Bear argue over the evidence, a manager synthesizes it, and the trader proposes a structure. Two deterministic agents are the only path to a broker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gives every agent a deliberately small toolbox. The trader has no execution tools at all: it can design an order, but it cannot place one. That isolation is the central safety property.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Temporal handles the orchestration because schedules and workflow state survive worker restarts. The parent invokes Run and Close child workflows, while Postgres keeps a complete audit trail.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production strategies create different trade opportunities, but each passes through exactly the same deterministic risk and portfolio gates. The shared caps are intentional: strategy creativity should not change the account’s safety envelope.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LLM’s job is creativity in structure, not authority. RiskManager evaluates bounded numeric constraints. PortfolioManager rechecks brokerage permissions for every leg before the MCP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live paper-account run. We have placed more than 60 orders and recorded more than 22 fills through MCP. The important result is not only activity: every debate cycle produces a typed, inspectable verdict.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demo-only stack. Rails and Postgres provide the application foundation, Temporal handles durable orchestration, and YAML makes every trading threshold inspectable instead of hardcoded.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we will cap risk by strategy, replay the same pure-Ruby Strategy.plan class in a backtest harness, and enrich the agent briefs with options-flow signals. The core pipeline remains broker-agnostic through MCP.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pitch brief; all factual claims and metrics are supplied by the requester.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838d1b22d40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646cf356274391" /><Relationship Type="http://schemas.openxmlformats.org/officeDocument/2006/relationships/slideLayout" Target="/ppt/slideLayouts/slideLayout1.xml" Id="Ra66058de7fa640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058de7fa640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cab3d0e9746be" /><Relationship Type="http://schemas.openxmlformats.org/officeDocument/2006/relationships/notesSlide" Target="/ppt/notesSlides/notesSlide1.xml" Id="R694971568bea40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84aca6fb747e9" /><Relationship Type="http://schemas.openxmlformats.org/officeDocument/2006/relationships/notesSlide" Target="/ppt/notesSlides/notesSlide2.xml" Id="Rc9a549187b1347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636bc2f4049ac" /><Relationship Type="http://schemas.openxmlformats.org/officeDocument/2006/relationships/notesSlide" Target="/ppt/notesSlides/notesSlide3.xml" Id="R70a5be3165f2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06816dbbb40ed" /><Relationship Type="http://schemas.openxmlformats.org/officeDocument/2006/relationships/notesSlide" Target="/ppt/notesSlides/notesSlide4.xml" Id="Re0fa49d530044e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c6f4bd2d44436" /><Relationship Type="http://schemas.openxmlformats.org/officeDocument/2006/relationships/notesSlide" Target="/ppt/notesSlides/notesSlide5.xml" Id="R7d9a37e0acea43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a2a18f2de45bb" /><Relationship Type="http://schemas.openxmlformats.org/officeDocument/2006/relationships/notesSlide" Target="/ppt/notesSlides/notesSlide6.xml" Id="R7a3d28d6456543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c901207014b46" /><Relationship Type="http://schemas.openxmlformats.org/officeDocument/2006/relationships/notesSlide" Target="/ppt/notesSlides/notesSlide7.xml" Id="R4aa57c02780e4f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13d6f02744ba0" /><Relationship Type="http://schemas.openxmlformats.org/officeDocument/2006/relationships/notesSlide" Target="/ppt/notesSlides/notesSlide8.xml" Id="R90e34ff9e68044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9d8780d5242ed" /><Relationship Type="http://schemas.openxmlformats.org/officeDocument/2006/relationships/notesSlide" Target="/ppt/notesSlides/notesSlide9.xml" Id="R5f9eccbd5f5241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386da05754375" /><Relationship Type="http://schemas.openxmlformats.org/officeDocument/2006/relationships/notesSlide" Target="/ppt/notesSlides/notesSlide10.xml" Id="Raf84527f9fb947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E0ABC-41BF-4927-9EB2-30B5766C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62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C85A5-3D5D-4684-87D8-9ED34C9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4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BFFA"/>
                </a:solidFill>
              </a:defRPr>
            </a:pPr>
            <a:r>
              <a:rPr sz="975" b="1">
                <a:solidFill>
                  <a:srgbClr val="36BFFA"/>
                </a:solidFill>
              </a:rPr>
              <a:t>YIELD-PACA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308E7-6E59-4225-B879-5455D92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81100"/>
            <a:ext cx="7239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Multi-Agent AI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Trading System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on Alpaca MCP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44DFD-DB5A-4E6C-80B2-64E0F2D8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8D6"/>
                </a:solidFill>
              </a:defRPr>
            </a:pPr>
            <a:r>
              <a:rPr sz="1650" b="0">
                <a:solidFill>
                  <a:srgbClr val="B9C8D6"/>
                </a:solidFill>
              </a:rPr>
              <a:t>Hackathon submission — Alpaca AI Trading Agents</a:t>
            </a:r>
          </a:p>
          <a:p xmlns:a="http://schemas.openxmlformats.org/drawingml/2006/main">
            <a:pPr algn="l">
              <a:defRPr sz="1650" b="0">
                <a:solidFill>
                  <a:srgbClr val="B9C8D6"/>
                </a:solidFill>
              </a:defRPr>
            </a:pPr>
            <a:r>
              <a:rPr sz="1650" b="0">
                <a:solidFill>
                  <a:srgbClr val="B9C8D6"/>
                </a:solidFill>
              </a:rPr>
              <a:t>Aug–Sep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4CE83-47BD-4014-A5CC-A8B70CF7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1430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929AB-B12D-4245-884D-BD4B3313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161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defRPr sz="7800" b="1">
                <a:solidFill>
                  <a:srgbClr val="36BFFA"/>
                </a:solidFill>
              </a:defRPr>
            </a:pPr>
            <a:r>
              <a:rPr sz="7800" b="1">
                <a:solidFill>
                  <a:srgbClr val="36BFFA"/>
                </a:solidFill>
              </a:rPr>
              <a:t>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2936B-D182-4BA2-AB8F-9F0FB250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yield-paca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E5E6A-8A5C-44B7-B532-78570F4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CC86"/>
                </a:solidFill>
              </a:defRPr>
            </a:pPr>
            <a:r>
              <a:rPr sz="1050" b="1">
                <a:solidFill>
                  <a:srgbClr val="5DCC86"/>
                </a:solidFill>
              </a:rPr>
              <a:t>Alpaca MCP ·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E2F3A-D991-48F1-BE79-798B3929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05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PA3PR2RMFE9Y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F2290-FBCC-4D26-82FC-9B4588B0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8D6"/>
                </a:solidFill>
              </a:defRPr>
            </a:pPr>
            <a:r>
              <a:rPr sz="1500" b="0">
                <a:solidFill>
                  <a:srgbClr val="B9C8D6"/>
                </a:solidFill>
              </a:rPr>
              <a:t>Research. Debate. Execute.</a:t>
            </a:r>
          </a:p>
          <a:p xmlns:a="http://schemas.openxmlformats.org/drawingml/2006/main">
            <a:pPr algn="l">
              <a:defRPr sz="1500" b="0">
                <a:solidFill>
                  <a:srgbClr val="B9C8D6"/>
                </a:solidFill>
              </a:defRPr>
            </a:pPr>
            <a:r>
              <a:rPr sz="1500" b="0">
                <a:solidFill>
                  <a:srgbClr val="B9C8D6"/>
                </a:solidFill>
              </a:rPr>
              <a:t>With architecture that says “no” before a bad trade ships.</a:t>
            </a:r>
          </a:p>
        </p:txBody>
      </p:sp>
    </p:spTree>
    <p:extLst>
      <p:ext uri="{BB962C8B-B14F-4D97-AF65-F5344CB8AC3E}">
        <p14:creationId xmlns:p14="http://schemas.microsoft.com/office/powerpoint/2010/main" val="879292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F0764-F4EF-4821-AB3F-21901A20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FFA"/>
                </a:solidFill>
              </a:defRPr>
            </a:pPr>
            <a:r>
              <a:rPr sz="900" b="1">
                <a:solidFill>
                  <a:srgbClr val="36BFFA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508A7-8386-49FF-9988-20E86518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Trading bots don't explain themselves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4D4FD5-3C0B-4B45-84B3-C46D9F61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C0DAA-D3EF-4340-B491-EA2611F3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4EAB4-497C-4765-8831-5D32EA78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5B8A7-2490-415A-A24B-A590D627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8136C-8AFF-49C3-B2A0-92E12EBA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5975"/>
            <a:ext cx="445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Black-box 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0541E-50BA-48D0-90A4-A70DCAA3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4577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One signal → one opaque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5DB90-2986-44F6-BAFD-380AD1BF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4310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47B0D-9EDD-48EC-B895-2EE59A77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431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C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073E5-74B9-4B31-9F36-637EE3C1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85975"/>
            <a:ext cx="445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Multi-agent with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6E93B-A7E5-4726-A852-3E3B6A4C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71725"/>
            <a:ext cx="44577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Structured debate → deterministic approval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448300" y="3371850"/>
            <a:ext cx="1295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sp>
        <p:nvSpPr>
          <p:cNvPr id="14" name="bullets">
            <a:extLst xmlns:a="http://schemas.openxmlformats.org/drawingml/2006/main">
              <a:ext uri="{FF2B5EF4-FFF2-40B4-BE49-F238E27FC236}">
                <a16:creationId xmlns:a16="http://schemas.microsoft.com/office/drawing/2014/main" id="{27934590-B487-49AA-87D1-7FA63E13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Single-signal bots have no second opinion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LLM bots without gates can propose unsafe positions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No audit trail leaves operators guessing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No replay means no safe backtest before live trading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115EB-FCA0-47FE-B18A-D9F7E4B7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B4BB2-809D-4E65-9E73-1B6B5BB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</a:defRPr>
            </a:pPr>
            <a:r>
              <a:rPr sz="825" b="0">
                <a:solidFill>
                  <a:srgbClr val="536273"/>
                </a:solidFill>
              </a:rPr>
              <a:t>Alpaca MCP · paper account PA3PR2RMFE9Y</a:t>
            </a:r>
          </a:p>
        </p:txBody>
      </p:sp>
    </p:spTree>
    <p:extLst>
      <p:ext uri="{BB962C8B-B14F-4D97-AF65-F5344CB8AC3E}">
        <p14:creationId xmlns:p14="http://schemas.microsoft.com/office/powerpoint/2010/main" val="2110755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B29846-B330-437B-BA56-EC9EFEC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FFA"/>
                </a:solidFill>
              </a:defRPr>
            </a:pPr>
            <a:r>
              <a:rPr sz="900" b="1">
                <a:solidFill>
                  <a:srgbClr val="36BFFA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9ACB1-A1B0-4572-B29C-B2C52FAE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Every trade is a structured conversation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959E241-A52B-4B8E-A4A8-8226CF78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41CA8-8476-455D-B559-01D22BA2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A892A-C403-451F-9815-9392CE3C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C09A3-C403-4326-9E11-93789FC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68CEC6-93E5-4B85-BB76-65E48E3F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Market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BB6F0-142D-476E-B830-4B8AFFE0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parallel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80414-193B-4E7A-8B7A-876E70D7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0975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89CD9-AE6D-407C-914E-53DE2FC0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097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E86D7-BDD3-45D9-B071-82C7CC64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News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FCA90-850D-4EC7-A454-D1B97BBE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383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parallel 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A7494-7FA5-470C-A429-E215BFBE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E6F03-5581-4534-A75D-83F54F35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2B27C-659A-461A-BADA-ADC84DA9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Macro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EDF59-3B13-44F1-84B3-98F27708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parallel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86877-C39F-460E-8A92-19EBEE1F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142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6686B-DA75-485F-8AC9-BF4C162F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7A7DE-B9B6-4B6C-9D2C-067B1E6E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Insider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62702-0660-46BE-ADE5-ECF0F6B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38375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parallel 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B69B7-382D-44BB-AE97-17C7BB0C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35685-86BB-44B8-BCCC-84CA7A58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94E78-B081-4984-B534-9EDAA67D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02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263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Bull + Bear debate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626DF-A120-48CF-B370-39D6270F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85975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thesis vs. challenge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95017-E087-4E9D-AE73-51CA07E9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C83E1C-26E7-4A12-AFF7-C16057D9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90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744F03-BC50-49DD-BF01-D9072355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337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8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Research 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3BCBD6-9EAB-4215-B18A-A1B66A77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194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typed synthesis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1125B-5311-4EB3-838C-E924DCB5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5DDDA6-3757-46CA-B572-ED950081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C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DD6DE6-3844-4E04-AEEA-AAD05AA5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148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Trader LLM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59DC5C-A275-43D5-9FDA-D50CC94D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00575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multi-leg proposal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F5C802-2CDD-4893-94A2-755EE70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90850"/>
            <a:ext cx="16478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D9D329-0B38-4A33-B600-E146776B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90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A52D26-9E7C-4593-81F6-9FF0415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33725"/>
            <a:ext cx="1343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RiskManager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175D73-8F41-4EBF-B5AC-C241CD5A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194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deterministic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32F7E-A4B5-4D08-9265-38F3EBC0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71950"/>
            <a:ext cx="1647825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C1F38-DD27-44A3-9B4D-EFFDA33C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719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C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2F0261-686D-4FB0-8885-0FC74FA8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14825"/>
            <a:ext cx="1343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87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PortfolioManager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626269-44F6-40F8-B501-EBD67A2B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005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MCP execution</a:t>
            </a:r>
          </a:p>
        </p:txBody>
      </p:sp>
      <p:cxnSp>
        <p:nvCxnSpPr>
          <p:cNvPr id="93" name=""/>
          <p:cNvCxnSpPr>
            <a:stCxn xmlns:a="http://schemas.openxmlformats.org/drawingml/2006/main" id="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114550" y="2162175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5B5C2"/>
            </a:solidFill>
            <a:prstDash val="solid"/>
            <a:tailEnd type="arrow" w="sm" len="sm"/>
          </a:ln>
        </p:spPr>
      </p:cxnSp>
      <p:cxnSp>
        <p:nvCxnSpPr>
          <p:cNvPr id="94" name=""/>
          <p:cNvCxnSpPr>
            <a:stCxn xmlns:a="http://schemas.openxmlformats.org/drawingml/2006/main" id="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771900" y="2162175"/>
            <a:ext cx="3943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5B5C2"/>
            </a:solidFill>
            <a:prstDash val="solid"/>
            <a:tailEnd type="arrow" w="sm" len="sm"/>
          </a:ln>
        </p:spPr>
      </p:cxnSp>
      <p:cxnSp>
        <p:nvCxnSpPr>
          <p:cNvPr id="95" name=""/>
          <p:cNvCxnSpPr>
            <a:stCxn xmlns:a="http://schemas.openxmlformats.org/drawingml/2006/main" id="13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429250" y="216217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5B5C2"/>
            </a:solidFill>
            <a:prstDash val="solid"/>
            <a:tailEnd type="arrow" w="sm" len="sm"/>
          </a:ln>
        </p:spPr>
      </p:cxnSp>
      <p:cxnSp>
        <p:nvCxnSpPr>
          <p:cNvPr id="96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086600" y="21621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5B5C2"/>
            </a:solidFill>
            <a:prstDash val="solid"/>
            <a:tailEnd type="arrow" w="sm" len="sm"/>
          </a:ln>
        </p:spPr>
      </p:cxnSp>
      <p:cxnSp>
        <p:nvCxnSpPr>
          <p:cNvPr id="97" name=""/>
          <p:cNvCxnSpPr>
            <a:stCxn xmlns:a="http://schemas.openxmlformats.org/drawingml/2006/main" id="2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8524875" y="26670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B5C2"/>
            </a:solidFill>
            <a:prstDash val="solid"/>
            <a:tailEnd type="arrow" w="sm" len="sm"/>
          </a:ln>
        </p:spPr>
      </p:cxnSp>
      <p:cxnSp>
        <p:nvCxnSpPr>
          <p:cNvPr id="98" name=""/>
          <p:cNvCxnSpPr>
            <a:stCxn xmlns:a="http://schemas.openxmlformats.org/drawingml/2006/main" id="25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334500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cxnSp>
        <p:nvCxnSpPr>
          <p:cNvPr id="99" name="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524875" y="3829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B5C2"/>
            </a:solidFill>
            <a:prstDash val="solid"/>
            <a:tailEnd type="arrow" w="sm" len="sm"/>
          </a:ln>
        </p:spPr>
      </p:cxnSp>
      <p:cxnSp>
        <p:nvCxnSpPr>
          <p:cNvPr id="100" name=""/>
          <p:cNvCxnSpPr>
            <a:stCxn xmlns:a="http://schemas.openxmlformats.org/drawingml/2006/main" id="29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334500" y="4591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cxnSp>
        <p:nvCxnSpPr>
          <p:cNvPr id="101" name=""/>
          <p:cNvCxnSpPr>
            <a:stCxn xmlns:a="http://schemas.openxmlformats.org/drawingml/2006/main" id="33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0682288" y="3829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B5C2"/>
            </a:solidFill>
            <a:prstDash val="solid"/>
            <a:tailEnd type="arrow" w="sm" len="sm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18B018-CC25-4C05-BB6E-BED8DD76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Idempotent · replayable · audit-ready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ECC1E0-14C7-4010-BE8A-2F38A632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CC87C0-FA5B-4999-9154-B04C3FAD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</a:defRPr>
            </a:pPr>
            <a:r>
              <a:rPr sz="825" b="0">
                <a:solidFill>
                  <a:srgbClr val="536273"/>
                </a:solidFill>
              </a:rPr>
              <a:t>Alpaca MCP · paper account PA3PR2RMFE9Y</a:t>
            </a:r>
          </a:p>
        </p:txBody>
      </p:sp>
    </p:spTree>
    <p:extLst>
      <p:ext uri="{BB962C8B-B14F-4D97-AF65-F5344CB8AC3E}">
        <p14:creationId xmlns:p14="http://schemas.microsoft.com/office/powerpoint/2010/main" val="1431616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090C3-234F-4A8F-AC73-E754BDD9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FFA"/>
                </a:solidFill>
              </a:defRPr>
            </a:pPr>
            <a:r>
              <a:rPr sz="900" b="1">
                <a:solidFill>
                  <a:srgbClr val="36BFFA"/>
                </a:solidFill>
              </a:rPr>
              <a:t>WHY MODEL CONTEXT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C233E-C80A-403C-B724-6301E569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MCP makes the system pluggable—and safe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0C32984-3890-41B9-9F4D-8DC2A31B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471E9-BFFA-4A1B-844A-CF1E71E4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9F053-3EFD-49A5-A477-5E49A8E6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273"/>
                </a:solidFill>
              </a:defRPr>
            </a:pPr>
            <a:r>
              <a:rPr sz="1650" b="0">
                <a:solidFill>
                  <a:srgbClr val="536273"/>
                </a:solidFill>
              </a:rPr>
              <a:t>Tool access is scoped by role at initialization.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61926-C0E9-4A1A-A790-71700CEB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1BB6E-EB57-429C-AA7F-DE553179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PortfolioManager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CC259-1443-48CC-8BAC-91FA5AF2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account · trading · positions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22C809-4B9C-4063-9171-FCCFC962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28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CC86"/>
                </a:solidFill>
              </a:defRPr>
            </a:pPr>
            <a:r>
              <a:rPr sz="1050" b="1">
                <a:solidFill>
                  <a:srgbClr val="5DCC86"/>
                </a:solidFill>
              </a:rPr>
              <a:t>EXECUTE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C2CE6-501B-4462-B4DF-AAB60DF5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3A68DE-A567-4DDA-9CD0-F1C9ABCD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Read-only analysts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762A1-DE5D-4ABB-B4A6-720A88A9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stock-data · options-data · news ·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91C23-B976-4A95-B586-9D1BF0BC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670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6BFFA"/>
                </a:solidFill>
              </a:defRPr>
            </a:pPr>
            <a:r>
              <a:rPr sz="1050" b="1">
                <a:solidFill>
                  <a:srgbClr val="36BFFA"/>
                </a:solidFill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F4EE4-F204-49B8-9EAC-0C48E6A8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6F6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7C146-A2A8-4A06-8A8E-CC48AB5B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Trader 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678AB-730E-417E-B01F-E48F5E1E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76700"/>
            <a:ext cx="500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3"/>
                </a:solidFill>
              </a:defRPr>
            </a:pPr>
            <a:r>
              <a:rPr sz="1275" b="0">
                <a:solidFill>
                  <a:srgbClr val="536273"/>
                </a:solidFill>
              </a:rPr>
              <a:t>proposal context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041B1-4A97-4915-A2A2-B94A5F1C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05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7777"/>
                </a:solidFill>
              </a:defRPr>
            </a:pPr>
            <a:r>
              <a:rPr sz="1050" b="1">
                <a:solidFill>
                  <a:srgbClr val="F27777"/>
                </a:solidFill>
              </a:rPr>
              <a:t>NO TOOLS</a:t>
            </a:r>
          </a:p>
        </p:txBody>
      </p:sp>
      <p:sp>
        <p:nvSpPr>
          <p:cNvPr id="18" name="bullets">
            <a:extLst xmlns:a="http://schemas.openxmlformats.org/drawingml/2006/main">
              <a:ext uri="{FF2B5EF4-FFF2-40B4-BE49-F238E27FC236}">
                <a16:creationId xmlns:a16="http://schemas.microsoft.com/office/drawing/2014/main" id="{F6BE5528-8AB2-480B-B886-F41D0335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8"/>
              </a:spcAft>
              <a:buChar char="•"/>
              <a:defRPr sz="1425">
                <a:solidFill>
                  <a:srgbClr val="0B1220"/>
                </a:solidFill>
              </a:defRPr>
            </a:pPr>
            <a:r>
              <a:rPr sz="1425">
                <a:solidFill>
                  <a:srgbClr val="0B1220"/>
                </a:solidFill>
              </a:rPr>
              <a:t>Trading toolsets are filtered out of LLM toolboxes—prompt injection cannot place an order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425">
                <a:solidFill>
                  <a:srgbClr val="0B1220"/>
                </a:solidFill>
              </a:defRPr>
            </a:pPr>
            <a:r>
              <a:rPr sz="1425">
                <a:solidFill>
                  <a:srgbClr val="0B1220"/>
                </a:solidFill>
              </a:rPr>
              <a:t>Safety comes from architecture, not rate limiters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425">
                <a:solidFill>
                  <a:srgbClr val="0B1220"/>
                </a:solidFill>
              </a:defRPr>
            </a:pPr>
            <a:r>
              <a:rPr sz="1425">
                <a:solidFill>
                  <a:srgbClr val="0B1220"/>
                </a:solidFill>
              </a:rPr>
              <a:t>Replace alpaca-mcp to swap brokers without changing the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88B95-A4D0-4964-84D3-9D056D9C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BC96BC-A3F8-423F-B08A-CEC6E70B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</a:defRPr>
            </a:pPr>
            <a:r>
              <a:rPr sz="825" b="0">
                <a:solidFill>
                  <a:srgbClr val="536273"/>
                </a:solidFill>
              </a:rPr>
              <a:t>Alpaca MCP · paper account PA3PR2RMFE9Y</a:t>
            </a:r>
          </a:p>
        </p:txBody>
      </p:sp>
    </p:spTree>
    <p:extLst>
      <p:ext uri="{BB962C8B-B14F-4D97-AF65-F5344CB8AC3E}">
        <p14:creationId xmlns:p14="http://schemas.microsoft.com/office/powerpoint/2010/main" val="1061882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AC0F4-1FB8-47FC-808A-BA69363E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FFA"/>
                </a:solidFill>
              </a:defRPr>
            </a:pPr>
            <a:r>
              <a:rPr sz="900" b="1">
                <a:solidFill>
                  <a:srgbClr val="36BFFA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60D45-6904-4375-977F-D03113F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Temporal orchestrates the work—not Sidekiq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E8AC7F-D87D-42B5-9E08-26ABE81C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85CB9-BB97-4874-A933-F17E075B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0EC1A-585B-45B6-AE57-375EE19C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7146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48C2C-FABD-4CA9-B2A8-8D11EC4F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23BFD-80D6-4098-840B-204A6B2E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2409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Schedule / Parent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2533F-132F-4702-B2EA-D1537180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2409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survives worker restarts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C4053-DA94-42DE-9961-C220932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097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B1383-5C37-4069-A0A8-F7D36023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8097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C2A35-B7FE-4BD6-9C39-B6DC05E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526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Run child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AF152-F956-4F94-B732-92322EC1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3837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research → debate → propose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5A8BA-A839-4123-973E-E81213BC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8135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1D91A-53FE-4384-AC6C-B97CB4C4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813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C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74A91-45EF-41D7-8438-8BBB79A4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242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Close child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45EA4-F369-4269-B4B4-C839CAB6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09975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risk → portfolio → fill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FA2B1-2E42-4F1C-953F-60E8940D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95550"/>
            <a:ext cx="285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594CD-034B-42EE-9CFE-7F2E7D3F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955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1A8254-FAD1-409C-8467-AFA4F823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384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Postgres audit trail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4BED0-180F-49A1-9259-E27EBC2E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24175"/>
            <a:ext cx="2552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agent_runs · risk_decisions · trade_proposals</a:t>
            </a:r>
          </a:p>
        </p:txBody>
      </p:sp>
      <p:cxnSp>
        <p:nvCxnSpPr>
          <p:cNvPr id="4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400425" y="2200275"/>
            <a:ext cx="10477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638925" y="2200275"/>
            <a:ext cx="15049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638925" y="3095625"/>
            <a:ext cx="150495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543550" y="25908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B5C2"/>
            </a:solidFill>
            <a:prstDash val="solid"/>
            <a:tailEnd type="arrow" w="sm" len="sm"/>
          </a:ln>
        </p:spPr>
      </p:cxnSp>
      <p:sp>
        <p:nvSpPr>
          <p:cNvPr id="25" name="bullets">
            <a:extLst xmlns:a="http://schemas.openxmlformats.org/drawingml/2006/main">
              <a:ext uri="{FF2B5EF4-FFF2-40B4-BE49-F238E27FC236}">
                <a16:creationId xmlns:a16="http://schemas.microsoft.com/office/drawing/2014/main" id="{4F1F24C9-9D8C-4948-B8BD-CF62ADF9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5 worker processes / 5 task queues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Parent + child workflow pattern: Run + Close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Re-trigger is a no-op while positions remain open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Every decision is durable and traceable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93E2A6-0E46-496C-8399-9EA5FA36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056C34-29F5-4092-A759-8F4CAF45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</a:defRPr>
            </a:pPr>
            <a:r>
              <a:rPr sz="825" b="0">
                <a:solidFill>
                  <a:srgbClr val="536273"/>
                </a:solidFill>
              </a:rPr>
              <a:t>Alpaca MCP · paper account PA3PR2RMFE9Y</a:t>
            </a:r>
          </a:p>
        </p:txBody>
      </p:sp>
    </p:spTree>
    <p:extLst>
      <p:ext uri="{BB962C8B-B14F-4D97-AF65-F5344CB8AC3E}">
        <p14:creationId xmlns:p14="http://schemas.microsoft.com/office/powerpoint/2010/main" val="1002482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81D97-2C5A-4CCA-828A-772B6084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FFA"/>
                </a:solidFill>
              </a:defRPr>
            </a:pPr>
            <a:r>
              <a:rPr sz="900" b="1">
                <a:solidFill>
                  <a:srgbClr val="36BFFA"/>
                </a:solidFill>
              </a:rPr>
              <a:t>STRATEGY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FFBCE-590C-49B9-96B0-F6CDEEC8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Three production strategies share one safety layer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69EAA2C-65B6-410D-9F5B-7D31F93E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71CF4-CCBC-475B-9564-71DEB8FB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A98C6-3A0F-400D-B730-628325A4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238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5D143-728C-4B3A-AD28-6286AA9F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6DAF1-3A24-49FF-B1A9-755327EB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Mid-Band Movers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8F994-0532-45DB-AA8E-513E376D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BFFA"/>
                </a:solidFill>
              </a:defRPr>
            </a:pPr>
            <a:r>
              <a:rPr sz="1050" b="1">
                <a:solidFill>
                  <a:srgbClr val="36BFFA"/>
                </a:solidFill>
              </a:rPr>
              <a:t>11:30 AM ET</a:t>
            </a:r>
          </a:p>
        </p:txBody>
      </p:sp>
      <p:sp>
        <p:nvSpPr>
          <p:cNvPr id="9" name="bullets">
            <a:extLst xmlns:a="http://schemas.openxmlformats.org/drawingml/2006/main">
              <a:ext uri="{FF2B5EF4-FFF2-40B4-BE49-F238E27FC236}">
                <a16:creationId xmlns:a16="http://schemas.microsoft.com/office/drawing/2014/main" id="{8FC9DCA5-58D8-494C-812F-0D57D427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3 return buckets: 2h / 4h / 23.5h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ATM 0DTE / 30DTE long calls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Fully 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03D60-DA10-49ED-BEFE-BC216F96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238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5288B-6131-4FDF-BC4C-A75C2C47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71DD2-938B-4B2B-A5D3-B6A99358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Overnight Reversal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9E565-D2FE-4419-9F8C-3A9D5361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95D"/>
                </a:solidFill>
              </a:defRPr>
            </a:pPr>
            <a:r>
              <a:rPr sz="1050" b="1">
                <a:solidFill>
                  <a:srgbClr val="F4C95D"/>
                </a:solidFill>
              </a:rPr>
              <a:t>9:35 AM ET</a:t>
            </a:r>
          </a:p>
        </p:txBody>
      </p:sp>
      <p:sp>
        <p:nvSpPr>
          <p:cNvPr id="14" name="bullets">
            <a:extLst xmlns:a="http://schemas.openxmlformats.org/drawingml/2006/main">
              <a:ext uri="{FF2B5EF4-FFF2-40B4-BE49-F238E27FC236}">
                <a16:creationId xmlns:a16="http://schemas.microsoft.com/office/drawing/2014/main" id="{50134BE6-9C04-417B-95B8-15609525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Yesterday winners → long calls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Losers → bear-call credit spreads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Close at 15:55 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BB93F-E047-4A1C-B79B-9063F2E4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28800"/>
            <a:ext cx="3238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68385-486F-4BD7-9BA9-AFB0FE30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2880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C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6E667-3F1B-4648-A42E-150E79A3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Bull / Bear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43B25-8E10-4994-91B6-E685AC3F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CC86"/>
                </a:solidFill>
              </a:defRPr>
            </a:pPr>
            <a:r>
              <a:rPr sz="1050" b="1">
                <a:solidFill>
                  <a:srgbClr val="5DCC86"/>
                </a:solidFill>
              </a:rPr>
              <a:t>Every 15 min</a:t>
            </a:r>
          </a:p>
        </p:txBody>
      </p:sp>
      <p:sp>
        <p:nvSpPr>
          <p:cNvPr id="19" name="bullets">
            <a:extLst xmlns:a="http://schemas.openxmlformats.org/drawingml/2006/main">
              <a:ext uri="{FF2B5EF4-FFF2-40B4-BE49-F238E27FC236}">
                <a16:creationId xmlns:a16="http://schemas.microsoft.com/office/drawing/2014/main" id="{F26A2CE2-28CB-4981-87EB-B9B563DE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4 briefs → debate → synthesis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Trader LLM designs order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275">
                <a:solidFill>
                  <a:srgbClr val="0B1220"/>
                </a:solidFill>
              </a:defRPr>
            </a:pPr>
            <a:r>
              <a:rPr sz="1275">
                <a:solidFill>
                  <a:srgbClr val="0B1220"/>
                </a:solidFill>
              </a:rPr>
              <a:t>Risk + Portfolio 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9C95C-DA79-4284-9374-3669117E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8C4AC-B9B0-443F-8061-FE420AD5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Shared gate: max_position_pct 20% · max_qty_per_order 500 · ask_size ≥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30154-E319-4D3D-B9BF-683F9D9B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86489-4AEE-4C9B-8DD2-3B6AFEF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</a:defRPr>
            </a:pPr>
            <a:r>
              <a:rPr sz="825" b="0">
                <a:solidFill>
                  <a:srgbClr val="536273"/>
                </a:solidFill>
              </a:rPr>
              <a:t>Alpaca MCP · paper account PA3PR2RMFE9Y</a:t>
            </a:r>
          </a:p>
        </p:txBody>
      </p:sp>
    </p:spTree>
    <p:extLst>
      <p:ext uri="{BB962C8B-B14F-4D97-AF65-F5344CB8AC3E}">
        <p14:creationId xmlns:p14="http://schemas.microsoft.com/office/powerpoint/2010/main" val="989199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0E49B-0978-4306-AF19-4546B409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FFA"/>
                </a:solidFill>
              </a:defRPr>
            </a:pPr>
            <a:r>
              <a:rPr sz="900" b="1">
                <a:solidFill>
                  <a:srgbClr val="36BFFA"/>
                </a:solidFill>
              </a:rPr>
              <a:t>SAFETY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C3EDB-81AA-43B2-9855-598142EE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LLM creativity meets deterministic gates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77F8B86-5F49-4338-9AB0-8B4FF4B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105C2-9E93-4EF6-8191-61AFB78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311D9-316C-4B49-B7F7-7B87E0B1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5D823-9D32-4DFD-A496-EEC0F478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CB676-4517-44DF-AD31-934198A5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Trader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E9F23-5654-45FA-9CE1-17B45BE1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designs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2701C-9C5D-4164-8DA8-0E1D8192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4E495-447E-4E5D-9052-721DA685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38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382D1-E6A9-454C-AC81-0027A84B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812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RiskManager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DC128-BF30-4326-BAE4-D24E20A6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limits + TTL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F120A-0A18-45B1-871F-9DFBAD6C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F4247-2F34-4C93-A098-F6B66C70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38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9BDB6-DE0B-4527-A1A0-2EFB7CF6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PortfolioManager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CE4E0-2BE2-4D90-B5F9-1F27AE33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6700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approval re-check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2F2B8-4BB7-4B83-9BC4-192F952C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B7380-D96C-4A57-9AC0-51C841F8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C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714C0-0E75-4FEF-9D09-F1886B0B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Alpaca 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BCC36-7B65-46A1-9EA1-EC5B012D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73"/>
                </a:solidFill>
              </a:defRPr>
            </a:pPr>
            <a:r>
              <a:rPr sz="900" b="0">
                <a:solidFill>
                  <a:srgbClr val="536273"/>
                </a:solidFill>
              </a:rPr>
              <a:t>broker submit</a:t>
            </a:r>
          </a:p>
        </p:txBody>
      </p:sp>
      <p:cxnSp>
        <p:nvCxnSpPr>
          <p:cNvPr id="4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81300" y="27717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505450" y="27717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229600" y="277177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5A5B5"/>
            </a:solidFill>
            <a:prstDash val="solid"/>
            <a:tailEnd type="arrow" w="sm" len="sm"/>
          </a:ln>
        </p:spPr>
      </p:cxnSp>
      <p:sp>
        <p:nvSpPr>
          <p:cNvPr id="24" name="bullets">
            <a:extLst xmlns:a="http://schemas.openxmlformats.org/drawingml/2006/main">
              <a:ext uri="{FF2B5EF4-FFF2-40B4-BE49-F238E27FC236}">
                <a16:creationId xmlns:a16="http://schemas.microsoft.com/office/drawing/2014/main" id="{5D10A16E-EEE2-406B-9785-868DBE8A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Risk rejects max-position, open-position, delta / vega / theta, and decision-TTL violations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Portfolio re-verifies options approval per leg; level-3 paper cannot naked sell_to_open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Idempotency prevents stacking orders on stale leftovers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AlpacaMirror runs 24/7 to catch after-hours assignments; audits land in Postgres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82C96-3CE6-4921-A122-7A09332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C887E-E3D6-49F3-8E5E-0C8FB01E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</a:defRPr>
            </a:pPr>
            <a:r>
              <a:rPr sz="825" b="0">
                <a:solidFill>
                  <a:srgbClr val="536273"/>
                </a:solidFill>
              </a:rPr>
              <a:t>Alpaca MCP · paper account PA3PR2RMFE9Y</a:t>
            </a:r>
          </a:p>
        </p:txBody>
      </p:sp>
    </p:spTree>
    <p:extLst>
      <p:ext uri="{BB962C8B-B14F-4D97-AF65-F5344CB8AC3E}">
        <p14:creationId xmlns:p14="http://schemas.microsoft.com/office/powerpoint/2010/main" val="247655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E332EE-AF2B-47CD-BC2D-7B15EB23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FFA"/>
                </a:solidFill>
              </a:defRPr>
            </a:pPr>
            <a:r>
              <a:rPr sz="900" b="1">
                <a:solidFill>
                  <a:srgbClr val="36BFFA"/>
                </a:solidFill>
              </a:rPr>
              <a:t>LIVE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0D88D-56EE-4308-88F4-EC33A3B1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Live on Alpaca paper account PA3PR2RMFE9Y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EADB45-62BC-46DF-9988-9BE626CF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28155-76DA-4F76-AB4E-5B913C05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50E8E-28F3-4EF9-8B4D-AE525A1D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924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9BF05-B80B-4370-AC8D-34997586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716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BFFA"/>
                </a:solidFill>
              </a:defRPr>
            </a:pPr>
            <a:r>
              <a:rPr sz="2250" b="1">
                <a:solidFill>
                  <a:srgbClr val="36BFFA"/>
                </a:solidFill>
              </a:rPr>
              <a:t>$89K–$98K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2947D-E4D1-4999-9C2C-8562D0CF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73"/>
                </a:solidFill>
              </a:defRPr>
            </a:pPr>
            <a:r>
              <a:rPr sz="1050" b="0">
                <a:solidFill>
                  <a:srgbClr val="536273"/>
                </a:solidFill>
              </a:rPr>
              <a:t>intraday paper equity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DE9D6-A6B4-4B84-9B96-CF8C4204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1924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B3574-CFA8-4667-B8EC-D9380DC8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716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BFFA"/>
                </a:solidFill>
              </a:defRPr>
            </a:pPr>
            <a:r>
              <a:rPr sz="2250" b="1">
                <a:solidFill>
                  <a:srgbClr val="36BFFA"/>
                </a:solidFill>
              </a:rPr>
              <a:t>60+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23686-E9AF-44F7-B2F8-BA4E6545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860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73"/>
                </a:solidFill>
              </a:defRPr>
            </a:pPr>
            <a:r>
              <a:rPr sz="1050" b="0">
                <a:solidFill>
                  <a:srgbClr val="536273"/>
                </a:solidFill>
              </a:rPr>
              <a:t>orders placed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DFE71-83AF-4C9C-8FCE-CE51AED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19240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8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4787F-F46A-43E6-A0D0-2D75A0A2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716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BFFA"/>
                </a:solidFill>
              </a:defRPr>
            </a:pPr>
            <a:r>
              <a:rPr sz="2250" b="1">
                <a:solidFill>
                  <a:srgbClr val="36BFFA"/>
                </a:solidFill>
              </a:rPr>
              <a:t>22+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3B8BC-C045-407C-BD2A-AB16B44E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860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273"/>
                </a:solidFill>
              </a:defRPr>
            </a:pPr>
            <a:r>
              <a:rPr sz="1050" b="0">
                <a:solidFill>
                  <a:srgbClr val="536273"/>
                </a:solidFill>
              </a:rPr>
              <a:t>fills via 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0E873-63D7-47B4-8E26-7B736E7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6480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A28C9-1B73-4A9F-B6BE-38B097A2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4312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TYPED VERDICT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EVERY 15 MINUTES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343F9-37E5-4218-827A-B56C0938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051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9C8D6"/>
                </a:solidFill>
              </a:defRPr>
            </a:pPr>
            <a:r>
              <a:rPr sz="1275" b="0">
                <a:solidFill>
                  <a:srgbClr val="B9C8D6"/>
                </a:solidFill>
              </a:rPr>
              <a:t>50+ bull/bear cycles executed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7CED5-877E-41FD-8ADA-2E9B1239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33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DCC86"/>
                </a:solidFill>
              </a:defRPr>
            </a:pPr>
            <a:r>
              <a:rPr sz="1200" b="1">
                <a:solidFill>
                  <a:srgbClr val="5DCC86"/>
                </a:solidFill>
              </a:rPr>
              <a:t>0 naked-short rejections</a:t>
            </a:r>
          </a:p>
          <a:p xmlns:a="http://schemas.openxmlformats.org/drawingml/2006/main">
            <a:pPr algn="ctr">
              <a:defRPr sz="1200" b="1">
                <a:solidFill>
                  <a:srgbClr val="5DCC86"/>
                </a:solidFill>
              </a:defRPr>
            </a:pPr>
            <a:r>
              <a:rPr sz="1200" b="1">
                <a:solidFill>
                  <a:srgbClr val="5DCC86"/>
                </a:solidFill>
              </a:rPr>
              <a:t>on level-3 paper</a:t>
            </a:r>
          </a:p>
        </p:txBody>
      </p:sp>
      <p:sp>
        <p:nvSpPr>
          <p:cNvPr id="18" name="bullets">
            <a:extLst xmlns:a="http://schemas.openxmlformats.org/drawingml/2006/main">
              <a:ext uri="{FF2B5EF4-FFF2-40B4-BE49-F238E27FC236}">
                <a16:creationId xmlns:a16="http://schemas.microsoft.com/office/drawing/2014/main" id="{0B431E5F-A662-4AE4-A4C4-9C72F4C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Mid-Band Movers: 3 scheduled buckets with scheduled sells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Overnight Reversal: 12 contracts filled; $13K deployed (16% of equity)</a:t>
            </a:r>
          </a:p>
          <a:p xmlns:a="http://schemas.openxmlformats.org/drawingml/2006/main">
            <a:pPr marL="22" indent="-14">
              <a:spcAft>
                <a:spcPts val="8"/>
              </a:spcAft>
              <a:buChar char="•"/>
              <a:defRPr sz="1500">
                <a:solidFill>
                  <a:srgbClr val="0B1220"/>
                </a:solidFill>
              </a:defRPr>
            </a:pPr>
            <a:r>
              <a:rPr sz="1500">
                <a:solidFill>
                  <a:srgbClr val="0B1220"/>
                </a:solidFill>
              </a:rPr>
              <a:t>Bull/Bear Pipeline: a typed verdict every cycle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AB169-328F-46CA-9019-C05F8F3D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68E3C-5D94-4080-B225-A115104A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</a:defRPr>
            </a:pPr>
            <a:r>
              <a:rPr sz="825" b="0">
                <a:solidFill>
                  <a:srgbClr val="536273"/>
                </a:solidFill>
              </a:rPr>
              <a:t>Alpaca MCP · paper account PA3PR2RMFE9Y</a:t>
            </a:r>
          </a:p>
        </p:txBody>
      </p:sp>
    </p:spTree>
    <p:extLst>
      <p:ext uri="{BB962C8B-B14F-4D97-AF65-F5344CB8AC3E}">
        <p14:creationId xmlns:p14="http://schemas.microsoft.com/office/powerpoint/2010/main" val="7276498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964E3C-EEE3-4B21-9F0B-18DE11BA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BFFA"/>
                </a:solidFill>
              </a:defRPr>
            </a:pPr>
            <a:r>
              <a:rPr sz="900" b="1">
                <a:solidFill>
                  <a:srgbClr val="36BFFA"/>
                </a:solidFill>
              </a:rPr>
              <a:t>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29052-18CD-4F41-B638-63552E00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Production-grade from day one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1FF7B42-FC09-46B5-8365-16AF552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95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273"/>
                </a:solidFill>
              </a:defRPr>
            </a:pPr>
            <a:r>
              <a:rPr sz="900" b="1">
                <a:solidFill>
                  <a:srgbClr val="536273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B1423-48DD-4A8C-B25E-A823ED23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93DAD-1179-4F20-A9A8-2BF27D8E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6EC68-1A08-4229-8F54-FE7E14B9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B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365DB-9E86-4008-B9BD-C408E5DE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764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B36F8-7EAD-4C74-A872-14CA747A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573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Ruby 4.0 · Rails 8.1 · Vue 3 SPA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E671E-A9D2-40B6-B464-C50587A3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B6D10-5530-498B-A635-C8E7ECF3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D0EC3-0B6E-4812-8B9A-B215C2E7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574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BF902-4C3C-46F8-BE92-F5197CA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384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Temporal.io · 5 queues · schedules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92D62-9999-4150-950D-9B540E6B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3D562-4943-4857-8EA2-C96FEB5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CC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1DF14-8100-4447-86DC-5231F199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385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Data + brokers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9A194-6332-498A-8227-3AD99362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194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Alpaca · TradingView · OptionsFlow · FRED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B0045-D31C-4429-9193-CDD14AF1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ECDDE-9E46-46EB-9DC0-1B81296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2EFAD-08AE-433A-9714-3787C8EA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19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25B57C-67F9-4232-A239-A66EFAC9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005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Anthropic Claude via ruby_llm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41FB8-4098-4762-99E3-C703B0EA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16753-E43E-4805-BBBB-C2A0B2C5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E2BB3-3627-4F9A-93F6-E521A5FC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006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5F202-DBE0-4D48-AE16-6E645BBA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815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Postgres 18 · Docker Compose · trading.yml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81251-88BA-48E5-8412-EAF53E46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One source of truth for thresholds: config/trading.yml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A027C-57D8-4E3F-9998-A5266199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49B59-4BB5-48ED-A661-8DF5D5EE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</a:defRPr>
            </a:pPr>
            <a:r>
              <a:rPr sz="825" b="0">
                <a:solidFill>
                  <a:srgbClr val="536273"/>
                </a:solidFill>
              </a:rPr>
              <a:t>Alpaca MCP · paper account PA3PR2RMFE9Y</a:t>
            </a:r>
          </a:p>
        </p:txBody>
      </p:sp>
    </p:spTree>
    <p:extLst>
      <p:ext uri="{BB962C8B-B14F-4D97-AF65-F5344CB8AC3E}">
        <p14:creationId xmlns:p14="http://schemas.microsoft.com/office/powerpoint/2010/main" val="506982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8D6AE-AAE3-456E-A57D-B8A08C74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BFFA"/>
                </a:solidFill>
              </a:defRPr>
            </a:pPr>
            <a:r>
              <a:rPr sz="975" b="1">
                <a:solidFill>
                  <a:srgbClr val="36BFFA"/>
                </a:solidFill>
              </a:rPr>
              <a:t>WHAT’S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8DBC-9B1E-441D-B219-63DA9F5D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Ship what works; open the rest.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413E8-27C2-4CD5-B28C-7E1FEEA9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66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9525">
            <a:solidFill>
              <a:srgbClr val="2746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AEDB9-58B4-4198-9AF4-FFF594FB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BFFA"/>
                </a:solidFill>
              </a:defRPr>
            </a:pPr>
            <a:r>
              <a:rPr sz="1050" b="1">
                <a:solidFill>
                  <a:srgbClr val="36BFFA"/>
                </a:solidFill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0512F-7841-4EB2-B9DC-41E2F514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Per-strategy risk caps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96F35-2A35-4240-96D3-EDC0393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81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904B5-9BCB-41C2-B2B1-57A086D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266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9525">
            <a:solidFill>
              <a:srgbClr val="2746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82C92-A67E-4629-934D-377F60E4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43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BFFA"/>
                </a:solidFill>
              </a:defRPr>
            </a:pPr>
            <a:r>
              <a:rPr sz="1050" b="1">
                <a:solidFill>
                  <a:srgbClr val="36BFFA"/>
                </a:solidFill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40FAB-F6C1-493F-AEA2-F0E9BDFF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Backtest the same Strategy.plan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84EA1-D349-470A-A426-AC2D9B4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81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A2833-CE85-431E-85B1-7A0AF8DE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266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9525">
            <a:solidFill>
              <a:srgbClr val="2746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68908-D47C-4579-A299-7567A823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BFFA"/>
                </a:solidFill>
              </a:defRPr>
            </a:pPr>
            <a:r>
              <a:rPr sz="1050" b="1">
                <a:solidFill>
                  <a:srgbClr val="36BFFA"/>
                </a:solidFill>
              </a:rPr>
              <a:t>Then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DD0A4-FE55-4445-A821-3E9A36DA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Options-flow briefs + adaptive DTE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8A01F-9214-4190-88E3-D4865F76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A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7CE28-5A2B-4A45-AB91-1881B7A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2669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3D"/>
          </a:solidFill>
          <a:ln xmlns:a="http://schemas.openxmlformats.org/drawingml/2006/main" w="9525">
            <a:solidFill>
              <a:srgbClr val="2746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D7768-A539-428A-87F3-0F54FA0B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BFFA"/>
                </a:solidFill>
              </a:defRPr>
            </a:pPr>
            <a:r>
              <a:rPr sz="1050" b="1">
                <a:solidFill>
                  <a:srgbClr val="36BFFA"/>
                </a:solidFill>
              </a:rPr>
              <a:t>Open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7B91A-11C6-4676-AAF9-8D0954A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Broker-agnostic MCP 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CDAA1-EC17-46DD-A613-DC26C020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Open source: irox/images/trader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20818-378D-4BDA-99D9-93C190DA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9C8D6"/>
                </a:solidFill>
              </a:defRPr>
            </a:pPr>
            <a:r>
              <a:rPr sz="1425" b="0">
                <a:solidFill>
                  <a:srgbClr val="B9C8D6"/>
                </a:solidFill>
              </a:rPr>
              <a:t>Strategy.plan is broker-agnostic: replace the MCP, keep the pipeline.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72CE6-4615-4EC3-BFD7-50BB8A65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6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9F3E1-5112-4DC7-9F00-0398D531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9C8D6"/>
                </a:solidFill>
              </a:defRPr>
            </a:pPr>
            <a:r>
              <a:rPr sz="1125" b="0">
                <a:solidFill>
                  <a:srgbClr val="B9C8D6"/>
                </a:solidFill>
              </a:rPr>
              <a:t>GitHub URL · Alpaca paper ID: PA3PR2RMFE9Y · Thank you</a:t>
            </a:r>
          </a:p>
        </p:txBody>
      </p:sp>
    </p:spTree>
    <p:extLst>
      <p:ext uri="{BB962C8B-B14F-4D97-AF65-F5344CB8AC3E}">
        <p14:creationId xmlns:p14="http://schemas.microsoft.com/office/powerpoint/2010/main" val="1804083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2026-09-03T23:30:12.6510000Z</dcterms:created>
  <dcterms:modified xsi:type="dcterms:W3CDTF">2026-09-03T23:30:12.6510000Z</dcterms:modified>
</coreProperties>
</file>